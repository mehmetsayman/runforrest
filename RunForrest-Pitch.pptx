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61" r:id="rId2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7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hmet Sayman" userId="2d43ead1c5ddc098" providerId="LiveId" clId="{7913382E-7805-4835-90F6-0AE5942F0543}"/>
    <pc:docChg chg="undo custSel modSld">
      <pc:chgData name="Mehmet Sayman" userId="2d43ead1c5ddc098" providerId="LiveId" clId="{7913382E-7805-4835-90F6-0AE5942F0543}" dt="2026-09-20T08:13:38.093" v="62" actId="20577"/>
      <pc:docMkLst>
        <pc:docMk/>
      </pc:docMkLst>
      <pc:sldChg chg="modSp mod">
        <pc:chgData name="Mehmet Sayman" userId="2d43ead1c5ddc098" providerId="LiveId" clId="{7913382E-7805-4835-90F6-0AE5942F0543}" dt="2026-09-20T08:09:57.092" v="1" actId="1076"/>
        <pc:sldMkLst>
          <pc:docMk/>
          <pc:sldMk cId="0" sldId="259"/>
        </pc:sldMkLst>
        <pc:spChg chg="mod">
          <ac:chgData name="Mehmet Sayman" userId="2d43ead1c5ddc098" providerId="LiveId" clId="{7913382E-7805-4835-90F6-0AE5942F0543}" dt="2026-09-20T08:09:57.092" v="1" actId="1076"/>
          <ac:spMkLst>
            <pc:docMk/>
            <pc:sldMk cId="0" sldId="259"/>
            <ac:spMk id="87" creationId="{00000000-0000-0000-0000-000000000000}"/>
          </ac:spMkLst>
        </pc:spChg>
      </pc:sldChg>
      <pc:sldChg chg="modSp mod">
        <pc:chgData name="Mehmet Sayman" userId="2d43ead1c5ddc098" providerId="LiveId" clId="{7913382E-7805-4835-90F6-0AE5942F0543}" dt="2026-09-20T08:13:38.093" v="62" actId="20577"/>
        <pc:sldMkLst>
          <pc:docMk/>
          <pc:sldMk cId="0" sldId="260"/>
        </pc:sldMkLst>
        <pc:spChg chg="mod">
          <ac:chgData name="Mehmet Sayman" userId="2d43ead1c5ddc098" providerId="LiveId" clId="{7913382E-7805-4835-90F6-0AE5942F0543}" dt="2026-09-20T08:13:38.093" v="62" actId="20577"/>
          <ac:spMkLst>
            <pc:docMk/>
            <pc:sldMk cId="0" sldId="260"/>
            <ac:spMk id="9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40ce21a80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3f40ce21a80_2_2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Hoş geldiniz. Online cohort'un açılışı - bu iki hafta boyunca ne yapacağımızı anlatacağım.</a:t>
            </a:r>
            <a:endParaRPr sz="900"/>
          </a:p>
        </p:txBody>
      </p:sp>
      <p:sp>
        <p:nvSpPr>
          <p:cNvPr id="55" name="Google Shape;55;g3f40ce21a80_2_2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1</a:t>
            </a:fld>
            <a:endParaRPr sz="9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40ce21a80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g3f40ce21a80_2_16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Tüm takvim tek ekranda: iki online oturum, ardından İstanbul'da residency ve hackathon.</a:t>
            </a:r>
            <a:endParaRPr sz="900"/>
          </a:p>
        </p:txBody>
      </p:sp>
      <p:sp>
        <p:nvSpPr>
          <p:cNvPr id="67" name="Google Shape;67;g3f40ce21a80_2_16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2</a:t>
            </a:fld>
            <a:endParaRPr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af00d6e0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g3fbaf00d6e0_1_1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Tüm takvim tek ekranda: iki online oturum, ardından İstanbul'da residency ve hackathon.</a:t>
            </a:r>
            <a:endParaRPr sz="900"/>
          </a:p>
        </p:txBody>
      </p:sp>
      <p:sp>
        <p:nvSpPr>
          <p:cNvPr id="75" name="Google Shape;75;g3fbaf00d6e0_1_1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3</a:t>
            </a:fld>
            <a:endParaRPr sz="9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af00d6e0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g3fbaf00d6e0_1_8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Tüm takvim tek ekranda: iki online oturum, ardından İstanbul'da residency ve hackathon.</a:t>
            </a:r>
            <a:endParaRPr sz="900"/>
          </a:p>
        </p:txBody>
      </p:sp>
      <p:sp>
        <p:nvSpPr>
          <p:cNvPr id="83" name="Google Shape;83;g3fbaf00d6e0_1_8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4</a:t>
            </a:fld>
            <a:endParaRPr sz="9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af00d6e0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g3fbaf00d6e0_1_15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Tüm takvim tek ekranda: iki online oturum, ardından İstanbul'da residency ve hackathon.</a:t>
            </a:r>
            <a:endParaRPr sz="900"/>
          </a:p>
        </p:txBody>
      </p:sp>
      <p:sp>
        <p:nvSpPr>
          <p:cNvPr id="91" name="Google Shape;91;g3fbaf00d6e0_1_15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5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2A1509"/>
              </a:gs>
              <a:gs pos="42000">
                <a:srgbClr val="12090A"/>
              </a:gs>
              <a:gs pos="100000">
                <a:srgbClr val="07050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2428875" y="0"/>
            <a:ext cx="4286400" cy="2952900"/>
          </a:xfrm>
          <a:prstGeom prst="rect">
            <a:avLst/>
          </a:prstGeom>
          <a:gradFill>
            <a:gsLst>
              <a:gs pos="0">
                <a:srgbClr val="E8C87A">
                  <a:alpha val="20000"/>
                </a:srgbClr>
              </a:gs>
              <a:gs pos="70000">
                <a:srgbClr val="E8C87A">
                  <a:alpha val="0"/>
                </a:srgbClr>
              </a:gs>
              <a:gs pos="100000">
                <a:srgbClr val="E8C87A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" name="Google Shape;59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57200"/>
            <a:ext cx="1841488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/>
          <p:nvPr/>
        </p:nvSpPr>
        <p:spPr>
          <a:xfrm>
            <a:off x="571500" y="1768152"/>
            <a:ext cx="6131719" cy="1526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81149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6500"/>
              <a:buFont typeface="Georgia"/>
              <a:buNone/>
            </a:pPr>
            <a:r>
              <a:rPr lang="en" sz="6500" b="1" i="0" u="none" strike="noStrike" cap="none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PRO</a:t>
            </a:r>
            <a:r>
              <a:rPr lang="en" sz="6500" b="1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6500" b="1" i="0" u="none" strike="noStrike" cap="none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HACKATHON</a:t>
            </a:r>
            <a:endParaRPr sz="6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71500" y="3638475"/>
            <a:ext cx="571500" cy="4763"/>
          </a:xfrm>
          <a:prstGeom prst="rect">
            <a:avLst/>
          </a:prstGeom>
          <a:gradFill>
            <a:gsLst>
              <a:gs pos="0">
                <a:srgbClr val="D9A94E"/>
              </a:gs>
              <a:gs pos="100000">
                <a:srgbClr val="D9A94E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571500" y="4505325"/>
            <a:ext cx="300024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E7D5"/>
              </a:buClr>
              <a:buSzPts val="1000"/>
              <a:buFont typeface="Arial"/>
              <a:buNone/>
            </a:pPr>
            <a:r>
              <a:t>RunForrest — Proof of Active Lifestyle on Stellar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7157777" y="4505325"/>
            <a:ext cx="155619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A45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B08A45"/>
                </a:solidFill>
              </a:rPr>
              <a:t>19-20 September, 2026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571500" y="419100"/>
            <a:ext cx="32934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lang="en" sz="3500" b="1" i="0" u="none" strike="noStrike" cap="none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 </a:t>
            </a:r>
            <a:r>
              <a:rPr lang="en" sz="3500" b="1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Solution</a:t>
            </a:r>
            <a:endParaRPr sz="3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514350" y="1085400"/>
            <a:ext cx="7686600" cy="29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A running app where the prize pool is a contract, not a promise.</a:t>
            </a:r>
            <a:endParaRPr sz="16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3020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600"/>
              <a:buFont typeface="Georgia"/>
              <a:buChar char="●"/>
            </a:pPr>
            <a:r>
              <a:rPr lang="en" sz="1600" i="1" dirty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Runners join a distance challenge; the entry fee goes into a DeFindex vault.</a:t>
            </a:r>
            <a:endParaRPr sz="1600" i="1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30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600"/>
              <a:buFont typeface="Georgia"/>
              <a:buChar char="●"/>
            </a:pPr>
            <a:r>
              <a:rPr lang="en" sz="1600" i="1" dirty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Ranking is attested distance, and the 50/30/20 payout split is fixed in the contract.</a:t>
            </a:r>
            <a:endParaRPr sz="1600" i="1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3020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600"/>
              <a:buFont typeface="Georgia"/>
              <a:buChar char="●"/>
            </a:pPr>
            <a:r>
              <a:rPr lang="en" sz="1600" i="1" dirty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City badges are soulbound — proof of effort that cannot be bought or traded.</a:t>
            </a:r>
            <a:endParaRPr sz="1600" i="1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3020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600"/>
              <a:buFont typeface="Georgia"/>
              <a:buChar char="●"/>
            </a:pPr>
            <a:r>
              <a:rPr lang="en" sz="1600" i="1" dirty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No crypto needed: fund by Turkish bank transfer, cash winnings out to an IBAN.</a:t>
            </a:r>
            <a:endParaRPr sz="1600" i="1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500"/>
              <a:buFont typeface="Geo"/>
              <a:buNone/>
            </a:pPr>
            <a:endParaRPr sz="1600" i="1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3000"/>
              <a:buFont typeface="Georgia"/>
              <a:buNone/>
            </a:pPr>
            <a:endParaRPr sz="16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7"/>
          <p:cNvSpPr/>
          <p:nvPr/>
        </p:nvSpPr>
        <p:spPr>
          <a:xfrm>
            <a:off x="571500" y="419100"/>
            <a:ext cx="32934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lang="en" sz="3500" b="1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PMF</a:t>
            </a:r>
            <a:endParaRPr sz="3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514350" y="1085400"/>
            <a:ext cx="7686600" cy="27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Move-to-earn paid runners in tokens it printed itself. When the printing stopped, so did the running — the reward was never backed by anything.</a:t>
            </a:r>
            <a:endParaRPr sz="15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2385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/>
              <a:buChar char="●"/>
            </a:pPr>
            <a:r>
              <a:rPr lang="en" sz="1500" dirty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 missing piece was never motivation. It was trust: no way to verify the prize pool exists, and no way to turn a reward into money you can spend.</a:t>
            </a:r>
            <a:endParaRPr sz="15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2385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/>
              <a:buChar char="●"/>
            </a:pPr>
            <a:r>
              <a:rPr lang="en" sz="1500" dirty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In Turkey that is two walls: an unverifiable prize, and one that never becomes lira.</a:t>
            </a:r>
            <a:endParaRPr sz="15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i="1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i="1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8"/>
          <p:cNvSpPr/>
          <p:nvPr/>
        </p:nvSpPr>
        <p:spPr>
          <a:xfrm>
            <a:off x="571500" y="419100"/>
            <a:ext cx="49530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lang="en" sz="3500" b="1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Technical Workflow</a:t>
            </a:r>
            <a:endParaRPr sz="3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514350" y="1085400"/>
            <a:ext cx="7686600" cy="30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Fiat in: SEP-1 discovery → SEP-10 auth → SEP-12 KYC → SEP-38 quote → SEP-6 deposit. Lira leaves a Turkish bank, USDC lands in the runner's wallet.</a:t>
            </a:r>
            <a:endParaRPr sz="15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2385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/>
              <a:buChar char="●"/>
            </a:pPr>
            <a:r>
              <a:rPr lang="en" sz="1500" dirty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On chain: join() pulls the entry fee and deposits it into the DeFindex vault in one invocation, authorised by a scoped auth entry — the pool never sits in the contract.</a:t>
            </a:r>
            <a:endParaRPr sz="15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2385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/>
              <a:buChar char="●"/>
            </a:pPr>
            <a:r>
              <a:rPr lang="en" sz="1500" dirty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Out: a signed GPS attestation writes distance, finalize() is permissionless once the window closes, claim() pays from the vault, and SEP-6 sends lira back to an IBAN.</a:t>
            </a:r>
            <a:endParaRPr sz="15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i="1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i="1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571500" y="419100"/>
            <a:ext cx="49530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lang="en" sz="3500" b="1" dirty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 Team</a:t>
            </a:r>
            <a:endParaRPr sz="3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514350" y="1085400"/>
            <a:ext cx="7686600" cy="364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500" dirty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Run </a:t>
            </a:r>
            <a:r>
              <a:rPr lang="tr-TR" sz="1500" dirty="0" err="1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Forrest</a:t>
            </a:r>
            <a:endParaRPr sz="15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2385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/>
              <a:buChar char="●"/>
            </a:pPr>
            <a:r>
              <a:rPr lang="en" sz="1500" dirty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[</a:t>
            </a:r>
            <a:r>
              <a:rPr lang="tr-TR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Sayman</a:t>
            </a: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] </a:t>
            </a:r>
            <a:r>
              <a:rPr lang="en" sz="1500" dirty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— Frontend and wallet. Stellar Wallets Kit, the anchor flows and the ramp sheets.</a:t>
            </a:r>
            <a:endParaRPr sz="15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2385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/>
              <a:buChar char="●"/>
            </a:pPr>
            <a:r>
              <a:rPr lang="en" sz="1500" dirty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[</a:t>
            </a:r>
            <a:r>
              <a:rPr lang="tr-TR" sz="1500" dirty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Ensar</a:t>
            </a:r>
            <a:r>
              <a:rPr lang="en" sz="1500" dirty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] — Product and design. GPS tracking, the city badge system and the brand.</a:t>
            </a:r>
            <a:endParaRPr sz="15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i="1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i="1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</Words>
  <Application>Microsoft Office PowerPoint</Application>
  <PresentationFormat>Ekran Gösterisi (16:9)</PresentationFormat>
  <Paragraphs>48</Paragraphs>
  <Slides>5</Slides>
  <Notes>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2</vt:i4>
      </vt:variant>
      <vt:variant>
        <vt:lpstr>Slayt Başlıkları</vt:lpstr>
      </vt:variant>
      <vt:variant>
        <vt:i4>5</vt:i4>
      </vt:variant>
    </vt:vector>
  </HeadingPairs>
  <TitlesOfParts>
    <vt:vector size="11" baseType="lpstr">
      <vt:lpstr>Arial</vt:lpstr>
      <vt:lpstr>Calibri</vt:lpstr>
      <vt:lpstr>Geo</vt:lpstr>
      <vt:lpstr>Georgia</vt:lpstr>
      <vt:lpstr>Simple Light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Mehmet Sayman</cp:lastModifiedBy>
  <cp:revision>1</cp:revision>
  <dcterms:modified xsi:type="dcterms:W3CDTF">2026-09-20T08:13:45Z</dcterms:modified>
</cp:coreProperties>
</file>